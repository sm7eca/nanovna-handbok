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011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5943600" y="-365760"/>
            <a:ext cx="4114800" cy="4114800"/>
          </a:xfrm>
          <a:prstGeom prst="ellipse">
            <a:avLst/>
          </a:prstGeom>
          <a:solidFill>
            <a:srgbClr val="243B55">
              <a:alpha val="80000"/>
            </a:srgbClr>
          </a:solidFill>
          <a:ln w="12700">
            <a:solidFill>
              <a:srgbClr val="1E6FA5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6675120" y="274320"/>
            <a:ext cx="2743200" cy="2743200"/>
          </a:xfrm>
          <a:prstGeom prst="ellipse">
            <a:avLst/>
          </a:prstGeom>
          <a:solidFill>
            <a:srgbClr val="1B2E45">
              <a:alpha val="9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7223760" y="777240"/>
            <a:ext cx="1645920" cy="1645920"/>
          </a:xfrm>
          <a:prstGeom prst="ellipse">
            <a:avLst/>
          </a:prstGeom>
          <a:solidFill>
            <a:srgbClr val="243B55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7936992" y="1490472"/>
            <a:ext cx="219456" cy="21945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Shape 5"/>
          <p:cNvSpPr/>
          <p:nvPr/>
        </p:nvSpPr>
        <p:spPr>
          <a:xfrm>
            <a:off x="7223760" y="1572768"/>
            <a:ext cx="1645920" cy="36576"/>
          </a:xfrm>
          <a:prstGeom prst="rect">
            <a:avLst/>
          </a:prstGeom>
          <a:solidFill>
            <a:srgbClr val="7F98B2">
              <a:alpha val="5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8" name="Shape 6"/>
          <p:cNvSpPr/>
          <p:nvPr/>
        </p:nvSpPr>
        <p:spPr>
          <a:xfrm>
            <a:off x="8019288" y="777240"/>
            <a:ext cx="36576" cy="1645920"/>
          </a:xfrm>
          <a:prstGeom prst="rect">
            <a:avLst/>
          </a:prstGeom>
          <a:solidFill>
            <a:srgbClr val="7F98B2">
              <a:alpha val="5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914400" y="4729580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1325880" y="4767907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1737360" y="4657975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2148840" y="4482979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2560320" y="4375352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5" name="Shape 13"/>
          <p:cNvSpPr/>
          <p:nvPr/>
        </p:nvSpPr>
        <p:spPr>
          <a:xfrm>
            <a:off x="2971800" y="4416545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Shape 14"/>
          <p:cNvSpPr/>
          <p:nvPr/>
        </p:nvSpPr>
        <p:spPr>
          <a:xfrm>
            <a:off x="3383280" y="4575382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3794760" y="4731661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4206240" y="4767111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Shape 17"/>
          <p:cNvSpPr/>
          <p:nvPr/>
        </p:nvSpPr>
        <p:spPr>
          <a:xfrm>
            <a:off x="4617720" y="4654905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5029200" y="4479958"/>
            <a:ext cx="91440" cy="9144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502920" y="411480"/>
            <a:ext cx="1280160" cy="365760"/>
          </a:xfrm>
          <a:prstGeom prst="rect">
            <a:avLst/>
          </a:prstGeom>
          <a:solidFill>
            <a:srgbClr val="E8A0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502920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9144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NanoVNA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502920" y="17830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 Amatörradio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02920" y="25146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Praktisk handbok för mätning,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felsökning och antennteknik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02920" y="3401568"/>
            <a:ext cx="4389120" cy="36576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50292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Nilsson  SM6ECA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4160520"/>
            <a:ext cx="2743200" cy="475488"/>
          </a:xfrm>
          <a:prstGeom prst="rect">
            <a:avLst/>
          </a:prstGeom>
          <a:solidFill>
            <a:srgbClr val="243B55"/>
          </a:solidFill>
          <a:ln w="12700">
            <a:solidFill>
              <a:srgbClr val="1E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502920" y="41605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Gratis nedladdning på GitHub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är den här handboken?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412480" cy="9144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73152" cy="9144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94360" y="932688"/>
            <a:ext cx="8092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"NanoVNA har förändrat amatörradion på samma sätt som oscilloskopet och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digitala multimetern en gång gjorde."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64008" cy="804672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566928" y="199339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0665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på förståelse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35915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 matematiska härledningar utan vad som mäts, varför det mäts, och hur resultaten tolkas i verkliga situationer.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62656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411480" y="2962656"/>
            <a:ext cx="64008" cy="804672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566928" y="296265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0358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Pedagogisk ordning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32841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Grunderna och arbetsmetoderna presenteras tidigt – rätt ramverk innan de tekniska kapitlen.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64008" cy="804672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566928" y="39319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4005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Praktisk och direkt tillämpbar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29768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Bilagor med snabbreferens, felsökningsguide, byggprojekt och övningar för radioklubb.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Bokens struktur – 6 delar + bilagor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4160520" cy="365760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1 — Grundläggande användning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930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är NanoVNA · Arbetsmetodik · Komma igång · Kalibrering · Mätmetoder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258568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4160520" cy="365760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548640" y="22585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2 — Antennmätningar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791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SWR, impedans &amp; antennanalys · Trimma antenntyper · Antennsystem &amp; station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48456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411480" y="3648456"/>
            <a:ext cx="4160520" cy="3657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548640" y="36484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3 — Koax och transmissionslinjer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Mätning &amp; felsökning av koax · Common-mode &amp; RF-problem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868680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4800600" y="868680"/>
            <a:ext cx="4160520" cy="3657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4937760" y="868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4 — Filter och RF-komponenter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28930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baluner, dämpare, förstärkare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258568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4800600" y="2258568"/>
            <a:ext cx="4160520" cy="36576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4937760" y="22585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5 — Avancerade tekniker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6791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Avancerad antennanalys · NanoVNA som stationsverktyg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648456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4800600" y="3648456"/>
            <a:ext cx="4160520" cy="36576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4937760" y="36484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6 — Fördjupning (avancerat)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HF- och mikrovågsexperiment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Bilagor – referensmaterial vid mätbordet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521208" y="1243584"/>
            <a:ext cx="475488" cy="475488"/>
          </a:xfrm>
          <a:prstGeom prst="ellipse">
            <a:avLst/>
          </a:prstGeom>
          <a:solidFill>
            <a:srgbClr val="1E6FA5"/>
          </a:solidFill>
          <a:ln w="12700">
            <a:solidFill>
              <a:srgbClr val="1E6FA5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21208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9875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Bilaga A – Snabbreferens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1673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Checklista och snabbkommandon att ha vid mätbordet.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521208" y="2633472"/>
            <a:ext cx="475488" cy="475488"/>
          </a:xfrm>
          <a:prstGeom prst="ellipse">
            <a:avLst/>
          </a:prstGeom>
          <a:solidFill>
            <a:srgbClr val="1E6FA5"/>
          </a:solidFill>
          <a:ln w="12700">
            <a:solidFill>
              <a:srgbClr val="1E6FA5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521208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Bilaga B – Felsökningsguide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70662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Strukturerad tabell: problem → orsak → åtgärd för de vanligaste NanoVNA-problemen.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675888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6" name="Shape 14"/>
          <p:cNvSpPr/>
          <p:nvPr/>
        </p:nvSpPr>
        <p:spPr>
          <a:xfrm>
            <a:off x="521208" y="4023360"/>
            <a:ext cx="475488" cy="47548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52120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7673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Bilaga C – Byggprojekt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09651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RF-pickup-loop, referens-dummyload, common-mode-choker, referenskablar, portable kit.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896112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4910328" y="1243584"/>
            <a:ext cx="475488" cy="47548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4910328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9875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Bilaga D – Praktiska övningar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131673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Laboratorieskrivna övningar för ensam användning eller gruppsession i radioklubb.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286000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4910328" y="2633472"/>
            <a:ext cx="475488" cy="4754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4910328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23774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Bilaga E – Ordförklaringar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70662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RF-begrepp och termer förklarade kortfattat: SWR, TDR, Smith, VF, balun, choke m.fl.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675888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31" name="Shape 29"/>
          <p:cNvSpPr/>
          <p:nvPr/>
        </p:nvSpPr>
        <p:spPr>
          <a:xfrm>
            <a:off x="4910328" y="4023360"/>
            <a:ext cx="475488" cy="4754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91032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37673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Bilaga F – Stationsexempel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409651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verkliga fall: dipoljustering, common-mode-fix, fuktskadad kabel, TDR-lokalisering m.m.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du lär dig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4160520" cy="74980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" cy="7498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9848" y="120700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Mäta SWR och impedans med rätt metodik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039112"/>
            <a:ext cx="4160520" cy="74980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411480" y="2039112"/>
            <a:ext cx="64008" cy="7498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548640" y="203911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9848" y="216712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Förstå och använda Smith-diagrammet som praktiskt verktyg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99232"/>
            <a:ext cx="4160520" cy="74980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411480" y="2999232"/>
            <a:ext cx="64008" cy="7498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548640" y="29992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69848" y="312724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Kalibrera korrekt och förstå varför det är avgörande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959352"/>
            <a:ext cx="4160520" cy="74980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411480" y="3959352"/>
            <a:ext cx="64008" cy="7498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69848" y="408736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Felsöka antennkablar med S21 och TDR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078992"/>
            <a:ext cx="4160520" cy="74980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4800600" y="1078992"/>
            <a:ext cx="64008" cy="7498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4937760" y="10789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58968" y="120700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Justera och optimera kortvågs- och VHF/UHF-antenner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039112"/>
            <a:ext cx="4160520" cy="74980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5" name="Shape 23"/>
          <p:cNvSpPr/>
          <p:nvPr/>
        </p:nvSpPr>
        <p:spPr>
          <a:xfrm>
            <a:off x="4800600" y="2039112"/>
            <a:ext cx="64008" cy="7498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4937760" y="203911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🎛️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58968" y="216712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Mäta filter, baluner och RF-komponenter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2999232"/>
            <a:ext cx="4160520" cy="74980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4800600" y="2999232"/>
            <a:ext cx="64008" cy="7498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4937760" y="29992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58968" y="312724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Identifiera och åtgärda common-mode-problem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959352"/>
            <a:ext cx="4160520" cy="74980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33" name="Shape 31"/>
          <p:cNvSpPr/>
          <p:nvPr/>
        </p:nvSpPr>
        <p:spPr>
          <a:xfrm>
            <a:off x="4800600" y="3959352"/>
            <a:ext cx="64008" cy="74980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4937760" y="395935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58968" y="408736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Arbeta metodiskt – ändra en sak i taget, mät, dokumentera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Kalibrering &amp; arbetsmetodik – grunden för allt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3931920" cy="411480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Enportskalibrering – OSL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005840" cy="566928"/>
          </a:xfrm>
          <a:prstGeom prst="rect">
            <a:avLst/>
          </a:prstGeom>
          <a:solidFill>
            <a:srgbClr val="E8A0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08760" y="1426464"/>
            <a:ext cx="28346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600200" y="144475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Öppen port – maximal reflektion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1005840" cy="566928"/>
          </a:xfrm>
          <a:prstGeom prst="rect">
            <a:avLst/>
          </a:prstGeom>
          <a:solidFill>
            <a:srgbClr val="E8A0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08760" y="2249424"/>
            <a:ext cx="28346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600200" y="226771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Kortslutning – omvänd fas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1005840" cy="566928"/>
          </a:xfrm>
          <a:prstGeom prst="rect">
            <a:avLst/>
          </a:prstGeom>
          <a:solidFill>
            <a:srgbClr val="E8A0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3072384"/>
            <a:ext cx="28346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1600200" y="30906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Ω-last – ingen reflektion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840480"/>
            <a:ext cx="1005840" cy="566928"/>
          </a:xfrm>
          <a:prstGeom prst="rect">
            <a:avLst/>
          </a:prstGeom>
          <a:solidFill>
            <a:srgbClr val="E8A0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411480" y="38404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508760" y="3895344"/>
            <a:ext cx="28346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1600200" y="391363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Spara kalibreringsminne per band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868680"/>
            <a:ext cx="3977640" cy="4114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4892040" y="8686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regler för tillförlitliga mätningar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426464"/>
            <a:ext cx="347472" cy="34747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480060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9512" y="137160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Börja alltid enkelt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938528"/>
            <a:ext cx="347472" cy="34747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480060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9512" y="188366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Kalibrera där mätningen börjar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2450592"/>
            <a:ext cx="347472" cy="34747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80060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239572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Välj rätt frekvensområde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2962656"/>
            <a:ext cx="347472" cy="34747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48006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9512" y="290779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Ändra en sak i taget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3474720"/>
            <a:ext cx="347472" cy="34747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480060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9512" y="3419856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Dokumentera alltid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3986784"/>
            <a:ext cx="347472" cy="34747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1" name="Text 39"/>
          <p:cNvSpPr/>
          <p:nvPr/>
        </p:nvSpPr>
        <p:spPr>
          <a:xfrm>
            <a:off x="480060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9512" y="393192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Kontrollera adaptrar och kablar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00600" y="4498848"/>
            <a:ext cx="347472" cy="34747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480060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9512" y="444398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Bekräfta med dummyload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Mätfunktioner – S11 och S21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3977640" cy="411480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– Reflektionsmätning (CH0)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8" name="Shape 6"/>
          <p:cNvSpPr/>
          <p:nvPr/>
        </p:nvSpPr>
        <p:spPr>
          <a:xfrm>
            <a:off x="411480" y="1353312"/>
            <a:ext cx="54864" cy="475488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84832" y="13898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Antennkontroll och avstämning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94767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411480" y="1947672"/>
            <a:ext cx="54864" cy="475488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548640" y="19842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Smith-diagram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19842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Impedansanalys och matchning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54203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6" name="Shape 14"/>
          <p:cNvSpPr/>
          <p:nvPr/>
        </p:nvSpPr>
        <p:spPr>
          <a:xfrm>
            <a:off x="411480" y="2542032"/>
            <a:ext cx="54864" cy="475488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LOGMAG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84832" y="25786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Reflektionsdämpning i dB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13639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411480" y="3136392"/>
            <a:ext cx="54864" cy="475488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548640" y="31729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jX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84832" y="31729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 &amp; reaktiv del separat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373075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4" name="Shape 22"/>
          <p:cNvSpPr/>
          <p:nvPr/>
        </p:nvSpPr>
        <p:spPr>
          <a:xfrm>
            <a:off x="411480" y="3730752"/>
            <a:ext cx="54864" cy="475488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548640" y="37673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84832" y="3767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Lokalisera kabelbrott och reflexer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432511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411480" y="4325112"/>
            <a:ext cx="54864" cy="475488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548640" y="43616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84832" y="43616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Fasanalys, transmissionslinjer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841248"/>
            <a:ext cx="3977640" cy="4114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892040" y="8412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– Transmissionsmätning (CH0→CH1)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135331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34" name="Shape 32"/>
          <p:cNvSpPr/>
          <p:nvPr/>
        </p:nvSpPr>
        <p:spPr>
          <a:xfrm>
            <a:off x="4800600" y="135331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4937760" y="138988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Kabeldämpning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13898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Mät förlust vid 30, 144, 432 MHz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00600" y="194767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38" name="Shape 36"/>
          <p:cNvSpPr/>
          <p:nvPr/>
        </p:nvSpPr>
        <p:spPr>
          <a:xfrm>
            <a:off x="4800600" y="194767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9" name="Text 37"/>
          <p:cNvSpPr/>
          <p:nvPr/>
        </p:nvSpPr>
        <p:spPr>
          <a:xfrm>
            <a:off x="4937760" y="198424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Filterkurvor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19842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Passband, stopband, bandbredd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00600" y="254203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42" name="Shape 40"/>
          <p:cNvSpPr/>
          <p:nvPr/>
        </p:nvSpPr>
        <p:spPr>
          <a:xfrm>
            <a:off x="4800600" y="254203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3" name="Text 41"/>
          <p:cNvSpPr/>
          <p:nvPr/>
        </p:nvSpPr>
        <p:spPr>
          <a:xfrm>
            <a:off x="4937760" y="257860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Balun-test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25786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Verifiera 1:1 och 4:1 baluner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00600" y="313639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46" name="Shape 44"/>
          <p:cNvSpPr/>
          <p:nvPr/>
        </p:nvSpPr>
        <p:spPr>
          <a:xfrm>
            <a:off x="4800600" y="313639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7" name="Text 45"/>
          <p:cNvSpPr/>
          <p:nvPr/>
        </p:nvSpPr>
        <p:spPr>
          <a:xfrm>
            <a:off x="4937760" y="31729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Dämparlänk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92240" y="31729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Mät verklig dämpning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800600" y="373075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0" name="Shape 48"/>
          <p:cNvSpPr/>
          <p:nvPr/>
        </p:nvSpPr>
        <p:spPr>
          <a:xfrm>
            <a:off x="4800600" y="373075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1" name="Text 49"/>
          <p:cNvSpPr/>
          <p:nvPr/>
        </p:nvSpPr>
        <p:spPr>
          <a:xfrm>
            <a:off x="4937760" y="376732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Förstärkare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92240" y="3767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Gain-mätning av LNA / preamp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800600" y="4325112"/>
            <a:ext cx="3977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4" name="Shape 52"/>
          <p:cNvSpPr/>
          <p:nvPr/>
        </p:nvSpPr>
        <p:spPr>
          <a:xfrm>
            <a:off x="4800600" y="432511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5" name="Text 53"/>
          <p:cNvSpPr/>
          <p:nvPr/>
        </p:nvSpPr>
        <p:spPr>
          <a:xfrm>
            <a:off x="4937760" y="436168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RF-pickup-loop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92240" y="43616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Hitta common-mode-strömmar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Verkliga fall från stationen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Bilaga F – 8 praktiska exempel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160520" cy="768096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54864" cy="76809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21208" y="1261872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4984" y="13167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m-dipol med fel resonans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14984" y="1609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Resonans 6,85 → 7,08 MHz efter stegvis förkortning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4160520" cy="768096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54864" cy="76809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521208" y="219456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4984" y="22494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 vertikalantenn + RF i mic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14984" y="25420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Common-mode diagnostiserat och eliminerat med FT240-43 choke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127248"/>
            <a:ext cx="4160520" cy="768096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6" name="Shape 14"/>
          <p:cNvSpPr/>
          <p:nvPr/>
        </p:nvSpPr>
        <p:spPr>
          <a:xfrm>
            <a:off x="411480" y="3127248"/>
            <a:ext cx="54864" cy="76809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521208" y="3127248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4984" y="3182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Kabel OK på HF, hög SWR på 432 MHz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14984" y="3474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TDR hittade fuktskada vid 22 m – precis vid masttoppen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059936"/>
            <a:ext cx="4160520" cy="768096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411480" y="4059936"/>
            <a:ext cx="54864" cy="76809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521208" y="4059936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4984" y="4114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SWR hoppar vid kabelrörelse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14984" y="44074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Dålig PL-259 identifierad och bytt – stabil mätning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1261872"/>
            <a:ext cx="4160520" cy="768096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4800600" y="1261872"/>
            <a:ext cx="54864" cy="76809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4910328" y="1261872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🎚️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04104" y="13167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Okänt filter utan märkning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04104" y="16093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S21 LOGMAG avslöjade 2 m-bandpass vid 145 MHz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2194560"/>
            <a:ext cx="4160520" cy="768096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31" name="Shape 29"/>
          <p:cNvSpPr/>
          <p:nvPr/>
        </p:nvSpPr>
        <p:spPr>
          <a:xfrm>
            <a:off x="4800600" y="2194560"/>
            <a:ext cx="54864" cy="76809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910328" y="219456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04104" y="22494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mottagning från mastkabel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04104" y="25420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TDR visade kabelbrott exakt 12,4 m från stationen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127248"/>
            <a:ext cx="4160520" cy="768096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36" name="Shape 34"/>
          <p:cNvSpPr/>
          <p:nvPr/>
        </p:nvSpPr>
        <p:spPr>
          <a:xfrm>
            <a:off x="4800600" y="3127248"/>
            <a:ext cx="54864" cy="76809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7" name="Text 35"/>
          <p:cNvSpPr/>
          <p:nvPr/>
        </p:nvSpPr>
        <p:spPr>
          <a:xfrm>
            <a:off x="4910328" y="3127248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🎛️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04104" y="3182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Tunern ger SWR 1,1 men dålig signal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04104" y="3474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Mätning utan tuner: 10+j80 Ω – antennproblem, inte tuner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4059936"/>
            <a:ext cx="4160520" cy="768096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41" name="Shape 39"/>
          <p:cNvSpPr/>
          <p:nvPr/>
        </p:nvSpPr>
        <p:spPr>
          <a:xfrm>
            <a:off x="4800600" y="4059936"/>
            <a:ext cx="54864" cy="76809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4910328" y="4059936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04104" y="4114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 mätning vid 432 MHz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04104" y="44074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Billig SMA-adapter byttes – kalibreringsproblem löst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NanoVNA-modeller &amp; viktigt att veta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64008" cy="868680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66928" y="9692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NanoVNA-H4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29844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Populärast bland amatörer. Bra balans: noggrannhet, portabilitet, färgdisplay, batteridrift, lågt pris.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64008" cy="868680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566928" y="19933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NanoVNA V2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232257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Bättre dynamikområde och stöd för högre frekvenser. Lämpad för VHF/UHF-arbete.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944368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64008" cy="868680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566928" y="30175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modeller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334670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Grundprincipen och menystrukturen likartad. Handboken tillämplig på alla vanliga varianter.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896112"/>
            <a:ext cx="3977640" cy="2103120"/>
          </a:xfrm>
          <a:prstGeom prst="rect">
            <a:avLst/>
          </a:prstGeom>
          <a:solidFill>
            <a:srgbClr val="FFF3CD"/>
          </a:solidFill>
          <a:ln w="254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4892040" y="9692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SÄKERHET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417320"/>
            <a:ext cx="3749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NanoVNA är ett lågsignalinstrument och förstörs av sändareffekt.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Koppla alltid bort radion och kontrollera att ingen RF finns på kabeln innan NanoVNA ansluts.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Avlägsna bias-T och DC-matning.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00600" y="315468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4800600" y="3154680"/>
            <a:ext cx="3977640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4892040" y="31546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Begränsningar att känna till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64608" y="3639312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5120640" y="35935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 professionellt laboratorieinstrument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64608" y="3895344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5120640" y="384962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Noggrannhet påverkas av adapterkvalitet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64608" y="4151376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5120640" y="410565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Känsligare på UHF och SHF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64608" y="4407408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Känslig för statisk elektricitet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5120640" y="182880"/>
            <a:ext cx="4754880" cy="4754880"/>
          </a:xfrm>
          <a:prstGeom prst="ellipse">
            <a:avLst/>
          </a:prstGeom>
          <a:solidFill>
            <a:srgbClr val="1B2E45">
              <a:alpha val="50000"/>
            </a:srgbClr>
          </a:solidFill>
          <a:ln w="12700">
            <a:solidFill>
              <a:srgbClr val="1E6FA5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5852160" y="914400"/>
            <a:ext cx="3291840" cy="3291840"/>
          </a:xfrm>
          <a:prstGeom prst="ellipse">
            <a:avLst/>
          </a:prstGeom>
          <a:solidFill>
            <a:srgbClr val="243B55">
              <a:alpha val="7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6583680" y="1645920"/>
            <a:ext cx="1828800" cy="1828800"/>
          </a:xfrm>
          <a:prstGeom prst="ellipse">
            <a:avLst/>
          </a:prstGeom>
          <a:solidFill>
            <a:srgbClr val="243B55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7388352" y="2450592"/>
            <a:ext cx="219456" cy="21945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Ladda ner handboken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på GitHub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4023360" cy="36576"/>
          </a:xfrm>
          <a:prstGeom prst="rect">
            <a:avLst/>
          </a:prstGeom>
          <a:solidFill>
            <a:srgbClr val="1E6FA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25603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C8801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11480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029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4 – omarbetad och utökad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569464"/>
            <a:ext cx="25603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C8801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41148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532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delar · 14 kapitel · 6 bilagor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072384"/>
            <a:ext cx="25603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C8801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41148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PDF, öppen licens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575304"/>
            <a:ext cx="25603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C8801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41148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538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Uppdateras löpande på GitHub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4160520"/>
            <a:ext cx="3657600" cy="5486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41148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de Arne Nilsson  SM6ECA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820</Words>
  <Application>Microsoft Macintosh PowerPoint</Application>
  <PresentationFormat>Bildspel på skärmen 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NanoVNA för Amatörradio – Praktisk handbok</dc:title>
  <dc:subject>PptxGenJS Presentation</dc:subject>
  <dc:creator>PptxGenJS</dc:creator>
  <cp:lastModifiedBy>A Nilsson</cp:lastModifiedBy>
  <cp:revision>1</cp:revision>
  <dcterms:created xsi:type="dcterms:W3CDTF">2026-05-18T08:18:43Z</dcterms:created>
  <dcterms:modified xsi:type="dcterms:W3CDTF">2026-05-18T08:23:22Z</dcterms:modified>
</cp:coreProperties>
</file>