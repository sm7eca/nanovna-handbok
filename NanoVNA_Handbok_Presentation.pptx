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9011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m7eca/nanoVNA-handbok/releases/download/4.2/NanoVNA_Handbok_V4-2.pdf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m7eca/nanoVNA-handbok/releases/download/4.2/NanoVNA_Handbok_V4-2.pdf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>
            <a:off x="5943600" y="-365760"/>
            <a:ext cx="4114800" cy="4114800"/>
          </a:xfrm>
          <a:prstGeom prst="ellipse">
            <a:avLst/>
          </a:prstGeom>
          <a:solidFill>
            <a:srgbClr val="243B55">
              <a:alpha val="80000"/>
            </a:srgbClr>
          </a:solidFill>
          <a:ln w="12700">
            <a:solidFill>
              <a:srgbClr val="1E6FA5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4" name="Shape 2"/>
          <p:cNvSpPr/>
          <p:nvPr/>
        </p:nvSpPr>
        <p:spPr>
          <a:xfrm>
            <a:off x="6675120" y="274320"/>
            <a:ext cx="2743200" cy="2743200"/>
          </a:xfrm>
          <a:prstGeom prst="ellipse">
            <a:avLst/>
          </a:prstGeom>
          <a:solidFill>
            <a:srgbClr val="1B2E45">
              <a:alpha val="9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5" name="Shape 3"/>
          <p:cNvSpPr/>
          <p:nvPr/>
        </p:nvSpPr>
        <p:spPr>
          <a:xfrm>
            <a:off x="7223760" y="777240"/>
            <a:ext cx="1645920" cy="1645920"/>
          </a:xfrm>
          <a:prstGeom prst="ellipse">
            <a:avLst/>
          </a:prstGeom>
          <a:solidFill>
            <a:srgbClr val="243B55"/>
          </a:solidFill>
          <a:ln w="1905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6" name="Shape 4"/>
          <p:cNvSpPr/>
          <p:nvPr/>
        </p:nvSpPr>
        <p:spPr>
          <a:xfrm>
            <a:off x="7936992" y="1490472"/>
            <a:ext cx="219456" cy="219456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Shape 5"/>
          <p:cNvSpPr/>
          <p:nvPr/>
        </p:nvSpPr>
        <p:spPr>
          <a:xfrm>
            <a:off x="7223760" y="1572768"/>
            <a:ext cx="1645920" cy="36576"/>
          </a:xfrm>
          <a:prstGeom prst="rect">
            <a:avLst/>
          </a:prstGeom>
          <a:solidFill>
            <a:srgbClr val="7F98B2">
              <a:alpha val="50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8" name="Shape 6"/>
          <p:cNvSpPr/>
          <p:nvPr/>
        </p:nvSpPr>
        <p:spPr>
          <a:xfrm>
            <a:off x="8019288" y="777240"/>
            <a:ext cx="36576" cy="1645920"/>
          </a:xfrm>
          <a:prstGeom prst="rect">
            <a:avLst/>
          </a:prstGeom>
          <a:solidFill>
            <a:srgbClr val="7F98B2">
              <a:alpha val="50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Shape 7"/>
          <p:cNvSpPr/>
          <p:nvPr/>
        </p:nvSpPr>
        <p:spPr>
          <a:xfrm>
            <a:off x="502920" y="4572000"/>
            <a:ext cx="91440" cy="91440"/>
          </a:xfrm>
          <a:prstGeom prst="ellipse">
            <a:avLst/>
          </a:prstGeom>
          <a:solidFill>
            <a:srgbClr val="E8A020">
              <a:alpha val="70000"/>
            </a:srgbClr>
          </a:solidFill>
          <a:ln w="12700">
            <a:solidFill>
              <a:srgbClr val="E8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Shape 8"/>
          <p:cNvSpPr/>
          <p:nvPr/>
        </p:nvSpPr>
        <p:spPr>
          <a:xfrm>
            <a:off x="914400" y="4729580"/>
            <a:ext cx="91440" cy="91440"/>
          </a:xfrm>
          <a:prstGeom prst="ellipse">
            <a:avLst/>
          </a:prstGeom>
          <a:solidFill>
            <a:srgbClr val="E8A020">
              <a:alpha val="70000"/>
            </a:srgbClr>
          </a:solidFill>
          <a:ln w="12700">
            <a:solidFill>
              <a:srgbClr val="E8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1" name="Shape 9"/>
          <p:cNvSpPr/>
          <p:nvPr/>
        </p:nvSpPr>
        <p:spPr>
          <a:xfrm>
            <a:off x="1325880" y="4767907"/>
            <a:ext cx="91440" cy="91440"/>
          </a:xfrm>
          <a:prstGeom prst="ellipse">
            <a:avLst/>
          </a:prstGeom>
          <a:solidFill>
            <a:srgbClr val="E8A020">
              <a:alpha val="70000"/>
            </a:srgbClr>
          </a:solidFill>
          <a:ln w="12700">
            <a:solidFill>
              <a:srgbClr val="E8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2" name="Shape 10"/>
          <p:cNvSpPr/>
          <p:nvPr/>
        </p:nvSpPr>
        <p:spPr>
          <a:xfrm>
            <a:off x="1737360" y="4657975"/>
            <a:ext cx="91440" cy="91440"/>
          </a:xfrm>
          <a:prstGeom prst="ellipse">
            <a:avLst/>
          </a:prstGeom>
          <a:solidFill>
            <a:srgbClr val="E8A020">
              <a:alpha val="70000"/>
            </a:srgbClr>
          </a:solidFill>
          <a:ln w="12700">
            <a:solidFill>
              <a:srgbClr val="E8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3" name="Shape 11"/>
          <p:cNvSpPr/>
          <p:nvPr/>
        </p:nvSpPr>
        <p:spPr>
          <a:xfrm>
            <a:off x="2148840" y="4482979"/>
            <a:ext cx="91440" cy="91440"/>
          </a:xfrm>
          <a:prstGeom prst="ellipse">
            <a:avLst/>
          </a:prstGeom>
          <a:solidFill>
            <a:srgbClr val="E8A020">
              <a:alpha val="70000"/>
            </a:srgbClr>
          </a:solidFill>
          <a:ln w="12700">
            <a:solidFill>
              <a:srgbClr val="E8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4" name="Shape 12"/>
          <p:cNvSpPr/>
          <p:nvPr/>
        </p:nvSpPr>
        <p:spPr>
          <a:xfrm>
            <a:off x="2560320" y="4375352"/>
            <a:ext cx="91440" cy="91440"/>
          </a:xfrm>
          <a:prstGeom prst="ellipse">
            <a:avLst/>
          </a:prstGeom>
          <a:solidFill>
            <a:srgbClr val="E8A020">
              <a:alpha val="70000"/>
            </a:srgbClr>
          </a:solidFill>
          <a:ln w="12700">
            <a:solidFill>
              <a:srgbClr val="E8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5" name="Shape 13"/>
          <p:cNvSpPr/>
          <p:nvPr/>
        </p:nvSpPr>
        <p:spPr>
          <a:xfrm>
            <a:off x="2971800" y="4416545"/>
            <a:ext cx="91440" cy="91440"/>
          </a:xfrm>
          <a:prstGeom prst="ellipse">
            <a:avLst/>
          </a:prstGeom>
          <a:solidFill>
            <a:srgbClr val="E8A020">
              <a:alpha val="70000"/>
            </a:srgbClr>
          </a:solidFill>
          <a:ln w="12700">
            <a:solidFill>
              <a:srgbClr val="E8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6" name="Shape 14"/>
          <p:cNvSpPr/>
          <p:nvPr/>
        </p:nvSpPr>
        <p:spPr>
          <a:xfrm>
            <a:off x="3383280" y="4575382"/>
            <a:ext cx="91440" cy="91440"/>
          </a:xfrm>
          <a:prstGeom prst="ellipse">
            <a:avLst/>
          </a:prstGeom>
          <a:solidFill>
            <a:srgbClr val="E8A020">
              <a:alpha val="70000"/>
            </a:srgbClr>
          </a:solidFill>
          <a:ln w="12700">
            <a:solidFill>
              <a:srgbClr val="E8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7" name="Shape 15"/>
          <p:cNvSpPr/>
          <p:nvPr/>
        </p:nvSpPr>
        <p:spPr>
          <a:xfrm>
            <a:off x="3794760" y="4731661"/>
            <a:ext cx="91440" cy="91440"/>
          </a:xfrm>
          <a:prstGeom prst="ellipse">
            <a:avLst/>
          </a:prstGeom>
          <a:solidFill>
            <a:srgbClr val="E8A020">
              <a:alpha val="70000"/>
            </a:srgbClr>
          </a:solidFill>
          <a:ln w="12700">
            <a:solidFill>
              <a:srgbClr val="E8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8" name="Shape 16"/>
          <p:cNvSpPr/>
          <p:nvPr/>
        </p:nvSpPr>
        <p:spPr>
          <a:xfrm>
            <a:off x="4206240" y="4767111"/>
            <a:ext cx="91440" cy="91440"/>
          </a:xfrm>
          <a:prstGeom prst="ellipse">
            <a:avLst/>
          </a:prstGeom>
          <a:solidFill>
            <a:srgbClr val="E8A020">
              <a:alpha val="70000"/>
            </a:srgbClr>
          </a:solidFill>
          <a:ln w="12700">
            <a:solidFill>
              <a:srgbClr val="E8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9" name="Shape 17"/>
          <p:cNvSpPr/>
          <p:nvPr/>
        </p:nvSpPr>
        <p:spPr>
          <a:xfrm>
            <a:off x="4617720" y="4654905"/>
            <a:ext cx="91440" cy="91440"/>
          </a:xfrm>
          <a:prstGeom prst="ellipse">
            <a:avLst/>
          </a:prstGeom>
          <a:solidFill>
            <a:srgbClr val="E8A020">
              <a:alpha val="70000"/>
            </a:srgbClr>
          </a:solidFill>
          <a:ln w="12700">
            <a:solidFill>
              <a:srgbClr val="E8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5029200" y="4479958"/>
            <a:ext cx="91440" cy="91440"/>
          </a:xfrm>
          <a:prstGeom prst="ellipse">
            <a:avLst/>
          </a:prstGeom>
          <a:solidFill>
            <a:srgbClr val="E8A020">
              <a:alpha val="70000"/>
            </a:srgbClr>
          </a:solidFill>
          <a:ln w="12700">
            <a:solidFill>
              <a:srgbClr val="E8A020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502920" y="411480"/>
            <a:ext cx="1280160" cy="365760"/>
          </a:xfrm>
          <a:prstGeom prst="rect">
            <a:avLst/>
          </a:prstGeom>
          <a:solidFill>
            <a:srgbClr val="E8A02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502920" y="411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91440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NanoVNA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502920" y="178308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 Amatörradio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02920" y="25146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Praktisk handbok för mätning,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felsökning och antennteknik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02920" y="3401568"/>
            <a:ext cx="4389120" cy="36576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7" name="Text 25"/>
          <p:cNvSpPr/>
          <p:nvPr/>
        </p:nvSpPr>
        <p:spPr>
          <a:xfrm>
            <a:off x="502920" y="35204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Arne Nilsson  SM6ECA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02920" y="4160520"/>
            <a:ext cx="232340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 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Gratis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nedladdning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på</a:t>
            </a: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GitHub</a:t>
            </a:r>
            <a:endParaRPr lang="en-US" sz="120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 är den här handboken?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896112"/>
            <a:ext cx="8412480" cy="914400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6" name="Shape 4"/>
          <p:cNvSpPr/>
          <p:nvPr/>
        </p:nvSpPr>
        <p:spPr>
          <a:xfrm>
            <a:off x="411480" y="896112"/>
            <a:ext cx="73152" cy="91440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594360" y="932688"/>
            <a:ext cx="8092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"NanoVNA har förändrat amatörradion på samma sätt som oscilloskopet och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digitala multimetern en gång gjorde."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1993392"/>
            <a:ext cx="8412480" cy="80467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9" name="Shape 7"/>
          <p:cNvSpPr/>
          <p:nvPr/>
        </p:nvSpPr>
        <p:spPr>
          <a:xfrm>
            <a:off x="411480" y="1993392"/>
            <a:ext cx="64008" cy="804672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566928" y="199339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066544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 på förståelse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2359152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 matematiska härledningar utan vad som mäts, varför det mäts, och hur resultaten tolkas i verkliga situationer.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2962656"/>
            <a:ext cx="8412480" cy="80467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4" name="Shape 12"/>
          <p:cNvSpPr/>
          <p:nvPr/>
        </p:nvSpPr>
        <p:spPr>
          <a:xfrm>
            <a:off x="411480" y="2962656"/>
            <a:ext cx="64008" cy="804672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566928" y="296265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303580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Pedagogisk ordning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328416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Grunderna och arbetsmetoderna presenteras tidigt – rätt ramverk innan de tekniska kapitlen.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3931920"/>
            <a:ext cx="8412480" cy="80467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9" name="Shape 17"/>
          <p:cNvSpPr/>
          <p:nvPr/>
        </p:nvSpPr>
        <p:spPr>
          <a:xfrm>
            <a:off x="411480" y="3931920"/>
            <a:ext cx="64008" cy="804672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566928" y="393192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🛠️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88720" y="40050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Praktisk och direkt tillämpbar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429768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Bilagor med snabbreferens, felsökningsguide, byggprojekt och övningar för radioklubb.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Bokens struktur – 6 delar + bilagor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868680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6" name="Shape 4"/>
          <p:cNvSpPr/>
          <p:nvPr/>
        </p:nvSpPr>
        <p:spPr>
          <a:xfrm>
            <a:off x="411480" y="868680"/>
            <a:ext cx="4160520" cy="365760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1 — Grundläggande användning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289304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 är NanoVNA · Arbetsmetodik · Komma igång · Kalibrering · Mätmetoder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2258568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0" name="Shape 8"/>
          <p:cNvSpPr/>
          <p:nvPr/>
        </p:nvSpPr>
        <p:spPr>
          <a:xfrm>
            <a:off x="411480" y="2258568"/>
            <a:ext cx="4160520" cy="365760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548640" y="225856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2 — Antennmätningar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679192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SWR, impedans &amp; antennanalys · Trimma antenntyper · Antennsystem &amp; station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3648456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4" name="Shape 12"/>
          <p:cNvSpPr/>
          <p:nvPr/>
        </p:nvSpPr>
        <p:spPr>
          <a:xfrm>
            <a:off x="411480" y="3648456"/>
            <a:ext cx="4160520" cy="365760"/>
          </a:xfrm>
          <a:prstGeom prst="rect">
            <a:avLst/>
          </a:prstGeom>
          <a:solidFill>
            <a:srgbClr val="17A589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548640" y="3648456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3 — Koax och transmissionslinjer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069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Mätning &amp; felsökning av koax · Common-mode &amp; RF-problem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868680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8" name="Shape 16"/>
          <p:cNvSpPr/>
          <p:nvPr/>
        </p:nvSpPr>
        <p:spPr>
          <a:xfrm>
            <a:off x="4800600" y="868680"/>
            <a:ext cx="4160520" cy="365760"/>
          </a:xfrm>
          <a:prstGeom prst="rect">
            <a:avLst/>
          </a:prstGeom>
          <a:solidFill>
            <a:srgbClr val="17A589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4937760" y="86868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4 — Filter och RF-komponenter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1289304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baluner, dämpare, förstärkare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00600" y="2258568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2" name="Shape 20"/>
          <p:cNvSpPr/>
          <p:nvPr/>
        </p:nvSpPr>
        <p:spPr>
          <a:xfrm>
            <a:off x="4800600" y="2258568"/>
            <a:ext cx="4160520" cy="36576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4937760" y="225856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5 — Avancerade tekniker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2679192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Avancerad antennanalys · NanoVNA som stationsverktyg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00600" y="3648456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6" name="Shape 24"/>
          <p:cNvSpPr/>
          <p:nvPr/>
        </p:nvSpPr>
        <p:spPr>
          <a:xfrm>
            <a:off x="4800600" y="3648456"/>
            <a:ext cx="4160520" cy="36576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7" name="Text 25"/>
          <p:cNvSpPr/>
          <p:nvPr/>
        </p:nvSpPr>
        <p:spPr>
          <a:xfrm>
            <a:off x="4937760" y="3648456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6 — Fördjupning (avancerat)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4069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HF- och mikrovågsexperiment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Bilagor – referensmaterial vid mätbordet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896112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6" name="Shape 4"/>
          <p:cNvSpPr/>
          <p:nvPr/>
        </p:nvSpPr>
        <p:spPr>
          <a:xfrm>
            <a:off x="521208" y="1243584"/>
            <a:ext cx="475488" cy="475488"/>
          </a:xfrm>
          <a:prstGeom prst="ellipse">
            <a:avLst/>
          </a:prstGeom>
          <a:solidFill>
            <a:srgbClr val="1E6FA5"/>
          </a:solidFill>
          <a:ln w="12700">
            <a:solidFill>
              <a:srgbClr val="1E6FA5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521208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98755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Bilaga A – Snabbreferens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1316736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Checklista och snabbkommandon att ha vid mätbordet.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286000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1" name="Shape 9"/>
          <p:cNvSpPr/>
          <p:nvPr/>
        </p:nvSpPr>
        <p:spPr>
          <a:xfrm>
            <a:off x="521208" y="2633472"/>
            <a:ext cx="475488" cy="475488"/>
          </a:xfrm>
          <a:prstGeom prst="ellipse">
            <a:avLst/>
          </a:prstGeom>
          <a:solidFill>
            <a:srgbClr val="1E6FA5"/>
          </a:solidFill>
          <a:ln w="12700">
            <a:solidFill>
              <a:srgbClr val="1E6FA5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2" name="Text 10"/>
          <p:cNvSpPr/>
          <p:nvPr/>
        </p:nvSpPr>
        <p:spPr>
          <a:xfrm>
            <a:off x="521208" y="2633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37744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Bilaga B – Felsökningsguide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706624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Strukturerad tabell: problem → orsak → åtgärd för de vanligaste NanoVNA-problemen.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3675888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6" name="Shape 14"/>
          <p:cNvSpPr/>
          <p:nvPr/>
        </p:nvSpPr>
        <p:spPr>
          <a:xfrm>
            <a:off x="521208" y="4023360"/>
            <a:ext cx="475488" cy="475488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521208" y="4023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37673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Bilaga C – Byggprojekt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4096512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RF-pickup-loop, referens-dummyload, common-mode-choker, referenskablar, portable kit.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896112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4910328" y="1243584"/>
            <a:ext cx="475488" cy="475488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4910328" y="12435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98755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Bilaga D – Praktiska övningar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0" y="1316736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Laboratorieskrivna övningar för ensam användning eller gruppsession i radioklubb.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00600" y="2286000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6" name="Shape 24"/>
          <p:cNvSpPr/>
          <p:nvPr/>
        </p:nvSpPr>
        <p:spPr>
          <a:xfrm>
            <a:off x="4910328" y="2633472"/>
            <a:ext cx="475488" cy="475488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7" name="Text 25"/>
          <p:cNvSpPr/>
          <p:nvPr/>
        </p:nvSpPr>
        <p:spPr>
          <a:xfrm>
            <a:off x="4910328" y="26334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237744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Bilaga E – Ordförklaringar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0" y="2706624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RF-begrepp och termer förklarade kortfattat: SWR, TDR, Smith, VF, balun, choke m.fl.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00600" y="3675888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31" name="Shape 29"/>
          <p:cNvSpPr/>
          <p:nvPr/>
        </p:nvSpPr>
        <p:spPr>
          <a:xfrm>
            <a:off x="4910328" y="4023360"/>
            <a:ext cx="475488" cy="475488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910328" y="4023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0" y="37673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Bilaga F – Stationsexempel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486400" y="4096512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verkliga fall: dipoljustering, common-mode-fix, fuktskadad kabel, TDR-lokalisering m.m.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Text 1"/>
          <p:cNvSpPr/>
          <p:nvPr/>
        </p:nvSpPr>
        <p:spPr>
          <a:xfrm>
            <a:off x="411480" y="29260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 du lär dig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1078992"/>
            <a:ext cx="4160520" cy="749808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64008" cy="749808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Text 4"/>
          <p:cNvSpPr/>
          <p:nvPr/>
        </p:nvSpPr>
        <p:spPr>
          <a:xfrm>
            <a:off x="54864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9848" y="1207008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Mäta SWR och impedans med rätt metodik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2039112"/>
            <a:ext cx="4160520" cy="749808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9" name="Shape 7"/>
          <p:cNvSpPr/>
          <p:nvPr/>
        </p:nvSpPr>
        <p:spPr>
          <a:xfrm>
            <a:off x="411480" y="2039112"/>
            <a:ext cx="64008" cy="749808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548640" y="203911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🔵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69848" y="2167128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Förstå och använda Smith-diagrammet som praktiskt verktyg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2999232"/>
            <a:ext cx="4160520" cy="749808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3" name="Shape 11"/>
          <p:cNvSpPr/>
          <p:nvPr/>
        </p:nvSpPr>
        <p:spPr>
          <a:xfrm>
            <a:off x="411480" y="2999232"/>
            <a:ext cx="64008" cy="749808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548640" y="299923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69848" y="3127248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Kalibrera korrekt och förstå varför det är avgörande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3959352"/>
            <a:ext cx="4160520" cy="749808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7" name="Shape 15"/>
          <p:cNvSpPr/>
          <p:nvPr/>
        </p:nvSpPr>
        <p:spPr>
          <a:xfrm>
            <a:off x="411480" y="3959352"/>
            <a:ext cx="64008" cy="749808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69848" y="4087368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Felsöka antennkablar med S21 och TDR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00600" y="1078992"/>
            <a:ext cx="4160520" cy="749808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4800600" y="1078992"/>
            <a:ext cx="64008" cy="749808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4937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📶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458968" y="1207008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Justera och optimera kortvågs- och VHF/UHF-antenner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2039112"/>
            <a:ext cx="4160520" cy="749808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5" name="Shape 23"/>
          <p:cNvSpPr/>
          <p:nvPr/>
        </p:nvSpPr>
        <p:spPr>
          <a:xfrm>
            <a:off x="4800600" y="2039112"/>
            <a:ext cx="64008" cy="749808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4937760" y="203911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🎛️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58968" y="2167128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Mäta filter, baluner och RF-komponenter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00600" y="2999232"/>
            <a:ext cx="4160520" cy="749808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4800600" y="2999232"/>
            <a:ext cx="64008" cy="749808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4937760" y="299923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458968" y="3127248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Identifiera och åtgärda common-mode-problem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00600" y="3959352"/>
            <a:ext cx="4160520" cy="749808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33" name="Shape 31"/>
          <p:cNvSpPr/>
          <p:nvPr/>
        </p:nvSpPr>
        <p:spPr>
          <a:xfrm>
            <a:off x="4800600" y="3959352"/>
            <a:ext cx="64008" cy="749808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4937760" y="395935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458968" y="4087368"/>
            <a:ext cx="3337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Arbeta metodiskt – ändra en sak i taget, mät, dokumentera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Kalibrering &amp; arbetsmetodik – grunden för allt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868680"/>
            <a:ext cx="3931920" cy="411480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Enportskalibrering – OSL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005840" cy="566928"/>
          </a:xfrm>
          <a:prstGeom prst="rect">
            <a:avLst/>
          </a:prstGeom>
          <a:solidFill>
            <a:srgbClr val="E8A02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8" name="Text 6"/>
          <p:cNvSpPr/>
          <p:nvPr/>
        </p:nvSpPr>
        <p:spPr>
          <a:xfrm>
            <a:off x="411480" y="137160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508760" y="1426464"/>
            <a:ext cx="28346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1600200" y="144475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Öppen port – maximal reflektion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2194560"/>
            <a:ext cx="1005840" cy="566928"/>
          </a:xfrm>
          <a:prstGeom prst="rect">
            <a:avLst/>
          </a:prstGeom>
          <a:solidFill>
            <a:srgbClr val="E8A02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2" name="Text 10"/>
          <p:cNvSpPr/>
          <p:nvPr/>
        </p:nvSpPr>
        <p:spPr>
          <a:xfrm>
            <a:off x="411480" y="219456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508760" y="2249424"/>
            <a:ext cx="28346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1600200" y="226771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Kortslutning – omvänd fas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017520"/>
            <a:ext cx="1005840" cy="566928"/>
          </a:xfrm>
          <a:prstGeom prst="rect">
            <a:avLst/>
          </a:prstGeom>
          <a:solidFill>
            <a:srgbClr val="E8A02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6" name="Text 14"/>
          <p:cNvSpPr/>
          <p:nvPr/>
        </p:nvSpPr>
        <p:spPr>
          <a:xfrm>
            <a:off x="411480" y="301752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508760" y="3072384"/>
            <a:ext cx="28346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8" name="Text 16"/>
          <p:cNvSpPr/>
          <p:nvPr/>
        </p:nvSpPr>
        <p:spPr>
          <a:xfrm>
            <a:off x="1600200" y="309067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Ω-last – ingen reflektion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3840480"/>
            <a:ext cx="1005840" cy="566928"/>
          </a:xfrm>
          <a:prstGeom prst="rect">
            <a:avLst/>
          </a:prstGeom>
          <a:solidFill>
            <a:srgbClr val="E8A02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411480" y="38404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508760" y="3895344"/>
            <a:ext cx="28346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1600200" y="3913632"/>
            <a:ext cx="2697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Spara kalibreringsminne per band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00600" y="868680"/>
            <a:ext cx="3977640" cy="411480"/>
          </a:xfrm>
          <a:prstGeom prst="rect">
            <a:avLst/>
          </a:prstGeom>
          <a:solidFill>
            <a:srgbClr val="17A589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4" name="Text 22"/>
          <p:cNvSpPr/>
          <p:nvPr/>
        </p:nvSpPr>
        <p:spPr>
          <a:xfrm>
            <a:off x="4892040" y="86868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regler för tillförlitliga mätningar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00600" y="1426464"/>
            <a:ext cx="347472" cy="347472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4800600" y="14264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39512" y="1371600"/>
            <a:ext cx="3401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Börja alltid enkelt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00600" y="1938528"/>
            <a:ext cx="347472" cy="347472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4800600" y="1938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39512" y="1883664"/>
            <a:ext cx="3401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Kalibrera där mätningen börjar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00600" y="2450592"/>
            <a:ext cx="347472" cy="347472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800600" y="2450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39512" y="2395728"/>
            <a:ext cx="3401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Välj rätt frekvensområde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00600" y="2962656"/>
            <a:ext cx="347472" cy="347472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4800600" y="2962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39512" y="2907792"/>
            <a:ext cx="3401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Ändra en sak i taget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00600" y="3474720"/>
            <a:ext cx="347472" cy="347472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4800600" y="3474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39512" y="3419856"/>
            <a:ext cx="3401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Dokumentera alltid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800600" y="3986784"/>
            <a:ext cx="347472" cy="347472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41" name="Text 39"/>
          <p:cNvSpPr/>
          <p:nvPr/>
        </p:nvSpPr>
        <p:spPr>
          <a:xfrm>
            <a:off x="4800600" y="3986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39512" y="3931920"/>
            <a:ext cx="3401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Kontrollera adaptrar och kablar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800600" y="4498848"/>
            <a:ext cx="347472" cy="347472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4800600" y="4498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239512" y="4443984"/>
            <a:ext cx="3401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Bekräfta med dummyload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Mätfunktioner – S11 och S21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841248"/>
            <a:ext cx="3977640" cy="411480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Text 4"/>
          <p:cNvSpPr/>
          <p:nvPr/>
        </p:nvSpPr>
        <p:spPr>
          <a:xfrm>
            <a:off x="502920" y="84124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 – Reflektionsmätning (CH0)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1480" y="1353312"/>
            <a:ext cx="39776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8" name="Shape 6"/>
          <p:cNvSpPr/>
          <p:nvPr/>
        </p:nvSpPr>
        <p:spPr>
          <a:xfrm>
            <a:off x="411480" y="1353312"/>
            <a:ext cx="54864" cy="475488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548640" y="13898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38988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Antennkontroll och avstämning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1947672"/>
            <a:ext cx="39776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2" name="Shape 10"/>
          <p:cNvSpPr/>
          <p:nvPr/>
        </p:nvSpPr>
        <p:spPr>
          <a:xfrm>
            <a:off x="411480" y="1947672"/>
            <a:ext cx="54864" cy="475488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Text 11"/>
          <p:cNvSpPr/>
          <p:nvPr/>
        </p:nvSpPr>
        <p:spPr>
          <a:xfrm>
            <a:off x="548640" y="198424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Smith-diagram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84832" y="19842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Impedansanalys och matchning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2542032"/>
            <a:ext cx="39776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6" name="Shape 14"/>
          <p:cNvSpPr/>
          <p:nvPr/>
        </p:nvSpPr>
        <p:spPr>
          <a:xfrm>
            <a:off x="411480" y="2542032"/>
            <a:ext cx="54864" cy="475488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548640" y="25786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LOGMAG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84832" y="257860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Reflektionsdämpning i dB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136392"/>
            <a:ext cx="39776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411480" y="3136392"/>
            <a:ext cx="54864" cy="475488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548640" y="317296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+ jX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084832" y="317296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Resistiv &amp; reaktiv del separat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11480" y="3730752"/>
            <a:ext cx="39776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4" name="Shape 22"/>
          <p:cNvSpPr/>
          <p:nvPr/>
        </p:nvSpPr>
        <p:spPr>
          <a:xfrm>
            <a:off x="411480" y="3730752"/>
            <a:ext cx="54864" cy="475488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548640" y="376732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084832" y="3767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Lokalisera kabelbrott och reflexer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11480" y="4325112"/>
            <a:ext cx="39776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8" name="Shape 26"/>
          <p:cNvSpPr/>
          <p:nvPr/>
        </p:nvSpPr>
        <p:spPr>
          <a:xfrm>
            <a:off x="411480" y="4325112"/>
            <a:ext cx="54864" cy="475488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548640" y="436168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084832" y="436168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Fasanalys, transmissionslinjer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800600" y="841248"/>
            <a:ext cx="3977640" cy="411480"/>
          </a:xfrm>
          <a:prstGeom prst="rect">
            <a:avLst/>
          </a:prstGeom>
          <a:solidFill>
            <a:srgbClr val="17A589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892040" y="84124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 – Transmissionsmätning (CH0→CH1)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00600" y="1353312"/>
            <a:ext cx="39776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34" name="Shape 32"/>
          <p:cNvSpPr/>
          <p:nvPr/>
        </p:nvSpPr>
        <p:spPr>
          <a:xfrm>
            <a:off x="4800600" y="1353312"/>
            <a:ext cx="54864" cy="475488"/>
          </a:xfrm>
          <a:prstGeom prst="rect">
            <a:avLst/>
          </a:prstGeom>
          <a:solidFill>
            <a:srgbClr val="17A589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4937760" y="138988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A5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Kabeldämpning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92240" y="138988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Mät förlust vid 30, 144, 432 MHz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800600" y="1947672"/>
            <a:ext cx="39776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38" name="Shape 36"/>
          <p:cNvSpPr/>
          <p:nvPr/>
        </p:nvSpPr>
        <p:spPr>
          <a:xfrm>
            <a:off x="4800600" y="1947672"/>
            <a:ext cx="54864" cy="475488"/>
          </a:xfrm>
          <a:prstGeom prst="rect">
            <a:avLst/>
          </a:prstGeom>
          <a:solidFill>
            <a:srgbClr val="17A589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9" name="Text 37"/>
          <p:cNvSpPr/>
          <p:nvPr/>
        </p:nvSpPr>
        <p:spPr>
          <a:xfrm>
            <a:off x="4937760" y="198424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A5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Filterkurvor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92240" y="19842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Passband, stopband, bandbredd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800600" y="2542032"/>
            <a:ext cx="39776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42" name="Shape 40"/>
          <p:cNvSpPr/>
          <p:nvPr/>
        </p:nvSpPr>
        <p:spPr>
          <a:xfrm>
            <a:off x="4800600" y="2542032"/>
            <a:ext cx="54864" cy="475488"/>
          </a:xfrm>
          <a:prstGeom prst="rect">
            <a:avLst/>
          </a:prstGeom>
          <a:solidFill>
            <a:srgbClr val="17A589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3" name="Text 41"/>
          <p:cNvSpPr/>
          <p:nvPr/>
        </p:nvSpPr>
        <p:spPr>
          <a:xfrm>
            <a:off x="4937760" y="257860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A5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Balun-test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92240" y="257860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Verifiera 1:1 och 4:1 baluner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4800600" y="3136392"/>
            <a:ext cx="39776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46" name="Shape 44"/>
          <p:cNvSpPr/>
          <p:nvPr/>
        </p:nvSpPr>
        <p:spPr>
          <a:xfrm>
            <a:off x="4800600" y="3136392"/>
            <a:ext cx="54864" cy="475488"/>
          </a:xfrm>
          <a:prstGeom prst="rect">
            <a:avLst/>
          </a:prstGeom>
          <a:solidFill>
            <a:srgbClr val="17A589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7" name="Text 45"/>
          <p:cNvSpPr/>
          <p:nvPr/>
        </p:nvSpPr>
        <p:spPr>
          <a:xfrm>
            <a:off x="4937760" y="317296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A5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Dämparlänk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492240" y="317296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Mät verklig dämpning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4800600" y="3730752"/>
            <a:ext cx="39776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50" name="Shape 48"/>
          <p:cNvSpPr/>
          <p:nvPr/>
        </p:nvSpPr>
        <p:spPr>
          <a:xfrm>
            <a:off x="4800600" y="3730752"/>
            <a:ext cx="54864" cy="475488"/>
          </a:xfrm>
          <a:prstGeom prst="rect">
            <a:avLst/>
          </a:prstGeom>
          <a:solidFill>
            <a:srgbClr val="17A589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1" name="Text 49"/>
          <p:cNvSpPr/>
          <p:nvPr/>
        </p:nvSpPr>
        <p:spPr>
          <a:xfrm>
            <a:off x="4937760" y="376732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A5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Förstärkare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492240" y="3767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Gain-mätning av LNA / preamp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800600" y="4325112"/>
            <a:ext cx="39776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54" name="Shape 52"/>
          <p:cNvSpPr/>
          <p:nvPr/>
        </p:nvSpPr>
        <p:spPr>
          <a:xfrm>
            <a:off x="4800600" y="4325112"/>
            <a:ext cx="54864" cy="475488"/>
          </a:xfrm>
          <a:prstGeom prst="rect">
            <a:avLst/>
          </a:prstGeom>
          <a:solidFill>
            <a:srgbClr val="17A589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5" name="Text 53"/>
          <p:cNvSpPr/>
          <p:nvPr/>
        </p:nvSpPr>
        <p:spPr>
          <a:xfrm>
            <a:off x="4937760" y="4361688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A5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RF-pickup-loop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6492240" y="436168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Hitta common-mode-strömmar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Verkliga fall från stationen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Bilaga F – 8 praktiska exempel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4160520" cy="768096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6" name="Shape 4"/>
          <p:cNvSpPr/>
          <p:nvPr/>
        </p:nvSpPr>
        <p:spPr>
          <a:xfrm>
            <a:off x="411480" y="1261872"/>
            <a:ext cx="54864" cy="768096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521208" y="1261872"/>
            <a:ext cx="4389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14984" y="131673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m-dipol med fel resonans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14984" y="160934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Resonans 6,85 → 7,08 MHz efter stegvis förkortning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1480" y="2194560"/>
            <a:ext cx="4160520" cy="768096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1" name="Shape 9"/>
          <p:cNvSpPr/>
          <p:nvPr/>
        </p:nvSpPr>
        <p:spPr>
          <a:xfrm>
            <a:off x="411480" y="2194560"/>
            <a:ext cx="54864" cy="768096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2" name="Text 10"/>
          <p:cNvSpPr/>
          <p:nvPr/>
        </p:nvSpPr>
        <p:spPr>
          <a:xfrm>
            <a:off x="521208" y="2194560"/>
            <a:ext cx="4389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🌀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14984" y="224942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 vertikalantenn + RF i mic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14984" y="254203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Common-mode diagnostiserat och eliminerat med FT240-43 choke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127248"/>
            <a:ext cx="4160520" cy="768096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6" name="Shape 14"/>
          <p:cNvSpPr/>
          <p:nvPr/>
        </p:nvSpPr>
        <p:spPr>
          <a:xfrm>
            <a:off x="411480" y="3127248"/>
            <a:ext cx="54864" cy="768096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521208" y="3127248"/>
            <a:ext cx="4389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💧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14984" y="318211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Kabel OK på HF, hög SWR på 432 MHz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14984" y="347472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TDR hittade fuktskada vid 22 m – precis vid masttoppen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" y="4059936"/>
            <a:ext cx="4160520" cy="768096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411480" y="4059936"/>
            <a:ext cx="54864" cy="768096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521208" y="4059936"/>
            <a:ext cx="4389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🔌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4984" y="41148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SWR hoppar vid kabelrörelse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14984" y="440740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Dålig PL-259 identifierad och bytt – stabil mätning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1261872"/>
            <a:ext cx="4160520" cy="768096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6" name="Shape 24"/>
          <p:cNvSpPr/>
          <p:nvPr/>
        </p:nvSpPr>
        <p:spPr>
          <a:xfrm>
            <a:off x="4800600" y="1261872"/>
            <a:ext cx="54864" cy="768096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7" name="Text 25"/>
          <p:cNvSpPr/>
          <p:nvPr/>
        </p:nvSpPr>
        <p:spPr>
          <a:xfrm>
            <a:off x="4910328" y="1261872"/>
            <a:ext cx="4389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🎚️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404104" y="131673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Okänt filter utan märkning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04104" y="160934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S21 LOGMAG avslöjade 2 m-bandpass vid 145 MHz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800600" y="2194560"/>
            <a:ext cx="4160520" cy="768096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31" name="Shape 29"/>
          <p:cNvSpPr/>
          <p:nvPr/>
        </p:nvSpPr>
        <p:spPr>
          <a:xfrm>
            <a:off x="4800600" y="2194560"/>
            <a:ext cx="54864" cy="768096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910328" y="2194560"/>
            <a:ext cx="4389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✂️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404104" y="224942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 mottagning från mastkabel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04104" y="254203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TDR visade kabelbrott exakt 12,4 m från stationen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00600" y="3127248"/>
            <a:ext cx="4160520" cy="768096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36" name="Shape 34"/>
          <p:cNvSpPr/>
          <p:nvPr/>
        </p:nvSpPr>
        <p:spPr>
          <a:xfrm>
            <a:off x="4800600" y="3127248"/>
            <a:ext cx="54864" cy="768096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7" name="Text 35"/>
          <p:cNvSpPr/>
          <p:nvPr/>
        </p:nvSpPr>
        <p:spPr>
          <a:xfrm>
            <a:off x="4910328" y="3127248"/>
            <a:ext cx="4389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🎛️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404104" y="318211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Tunern ger SWR 1,1 men dålig signal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404104" y="3474720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Mätning utan tuner: 10+j80 Ω – antennproblem, inte tuner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800600" y="4059936"/>
            <a:ext cx="4160520" cy="768096"/>
          </a:xfrm>
          <a:prstGeom prst="rect">
            <a:avLst/>
          </a:prstGeom>
          <a:solidFill>
            <a:srgbClr val="243B55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41" name="Shape 39"/>
          <p:cNvSpPr/>
          <p:nvPr/>
        </p:nvSpPr>
        <p:spPr>
          <a:xfrm>
            <a:off x="4800600" y="4059936"/>
            <a:ext cx="54864" cy="768096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4910328" y="4059936"/>
            <a:ext cx="4389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🔬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5404104" y="41148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 mätning vid 432 MHz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404104" y="440740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Billig SMA-adapter byttes – kalibreringsproblem löst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41148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NanoVNA-modeller &amp; viktigt att veta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896112"/>
            <a:ext cx="416052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6" name="Shape 4"/>
          <p:cNvSpPr/>
          <p:nvPr/>
        </p:nvSpPr>
        <p:spPr>
          <a:xfrm>
            <a:off x="411480" y="896112"/>
            <a:ext cx="64008" cy="868680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566928" y="96926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NanoVNA-H4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129844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Populärast bland amatörer. Bra balans: noggrannhet, portabilitet, färgdisplay, batteridrift, lågt pris.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1480" y="1920240"/>
            <a:ext cx="416052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0" name="Shape 8"/>
          <p:cNvSpPr/>
          <p:nvPr/>
        </p:nvSpPr>
        <p:spPr>
          <a:xfrm>
            <a:off x="411480" y="1920240"/>
            <a:ext cx="64008" cy="868680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566928" y="199339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NanoVNA V2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232257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Bättre dynamikområde och stöd för högre frekvenser. Lämpad för VHF/UHF-arbete.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2944368"/>
            <a:ext cx="416052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4" name="Shape 12"/>
          <p:cNvSpPr/>
          <p:nvPr/>
        </p:nvSpPr>
        <p:spPr>
          <a:xfrm>
            <a:off x="411480" y="2944368"/>
            <a:ext cx="64008" cy="868680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566928" y="301752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 modeller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" y="334670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Grundprincipen och menystrukturen likartad. Handboken tillämplig på alla vanliga varianter.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00600" y="896112"/>
            <a:ext cx="3977640" cy="2103120"/>
          </a:xfrm>
          <a:prstGeom prst="rect">
            <a:avLst/>
          </a:prstGeom>
          <a:solidFill>
            <a:srgbClr val="FFF3CD"/>
          </a:solidFill>
          <a:ln w="25400">
            <a:solidFill>
              <a:srgbClr val="E8A0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18" name="Text 16"/>
          <p:cNvSpPr/>
          <p:nvPr/>
        </p:nvSpPr>
        <p:spPr>
          <a:xfrm>
            <a:off x="4892040" y="96926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SÄKERHET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92040" y="1417320"/>
            <a:ext cx="37490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NanoVNA är ett lågsignalinstrument och förstörs av sändareffekt.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Koppla alltid bort radion och kontrollera att ingen RF finns på kabeln innan NanoVNA ansluts.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Avlägsna bias-T och DC-matning.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800600" y="3154680"/>
            <a:ext cx="3977640" cy="15727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4800600" y="3154680"/>
            <a:ext cx="3977640" cy="384048"/>
          </a:xfrm>
          <a:prstGeom prst="rect">
            <a:avLst/>
          </a:prstGeom>
          <a:solidFill>
            <a:srgbClr val="243B5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4892040" y="315468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Begränsningar att känna till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64608" y="3639312"/>
            <a:ext cx="146304" cy="146304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4" name="Text 22"/>
          <p:cNvSpPr/>
          <p:nvPr/>
        </p:nvSpPr>
        <p:spPr>
          <a:xfrm>
            <a:off x="5120640" y="359359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professionellt laboratorieinstrument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864608" y="3895344"/>
            <a:ext cx="146304" cy="146304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5120640" y="384962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Noggrannhet påverkas av adapterkvalitet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864608" y="4151376"/>
            <a:ext cx="146304" cy="146304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8" name="Text 26"/>
          <p:cNvSpPr/>
          <p:nvPr/>
        </p:nvSpPr>
        <p:spPr>
          <a:xfrm>
            <a:off x="5120640" y="410565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Känsligare på UHF och SHF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864608" y="4407408"/>
            <a:ext cx="146304" cy="146304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5120640" y="436168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Känslig för statisk elektricitet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E8A02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>
            <a:off x="5120640" y="182880"/>
            <a:ext cx="4754880" cy="4754880"/>
          </a:xfrm>
          <a:prstGeom prst="ellipse">
            <a:avLst/>
          </a:prstGeom>
          <a:solidFill>
            <a:srgbClr val="1B2E45">
              <a:alpha val="50000"/>
            </a:srgbClr>
          </a:solidFill>
          <a:ln w="12700">
            <a:solidFill>
              <a:srgbClr val="1E6FA5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4" name="Shape 2"/>
          <p:cNvSpPr/>
          <p:nvPr/>
        </p:nvSpPr>
        <p:spPr>
          <a:xfrm>
            <a:off x="5852160" y="914400"/>
            <a:ext cx="3291840" cy="3291840"/>
          </a:xfrm>
          <a:prstGeom prst="ellipse">
            <a:avLst/>
          </a:prstGeom>
          <a:solidFill>
            <a:srgbClr val="243B55">
              <a:alpha val="7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5" name="Shape 3"/>
          <p:cNvSpPr/>
          <p:nvPr/>
        </p:nvSpPr>
        <p:spPr>
          <a:xfrm>
            <a:off x="6583680" y="1645920"/>
            <a:ext cx="1828800" cy="1828800"/>
          </a:xfrm>
          <a:prstGeom prst="ellipse">
            <a:avLst/>
          </a:prstGeom>
          <a:solidFill>
            <a:srgbClr val="243B55"/>
          </a:solidFill>
          <a:ln w="254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6" name="Shape 4"/>
          <p:cNvSpPr/>
          <p:nvPr/>
        </p:nvSpPr>
        <p:spPr>
          <a:xfrm>
            <a:off x="7388352" y="2450592"/>
            <a:ext cx="219456" cy="219456"/>
          </a:xfrm>
          <a:prstGeom prst="ellipse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411480" y="5486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Ladda ner handboken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11480" y="118872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</a:t>
            </a:r>
            <a:r>
              <a:rPr lang="en-US" sz="28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28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gratis på GitHub</a:t>
            </a:r>
            <a:endParaRPr lang="en-US" sz="2800" dirty="0">
              <a:solidFill>
                <a:schemeClr val="accent4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411480" y="1901952"/>
            <a:ext cx="4023360" cy="36576"/>
          </a:xfrm>
          <a:prstGeom prst="rect">
            <a:avLst/>
          </a:prstGeom>
          <a:solidFill>
            <a:srgbClr val="1E6FA5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0" name="Shape 8"/>
          <p:cNvSpPr/>
          <p:nvPr/>
        </p:nvSpPr>
        <p:spPr>
          <a:xfrm>
            <a:off x="411480" y="2066544"/>
            <a:ext cx="256032" cy="256032"/>
          </a:xfrm>
          <a:prstGeom prst="rect">
            <a:avLst/>
          </a:prstGeom>
          <a:solidFill>
            <a:srgbClr val="E8A020"/>
          </a:solidFill>
          <a:ln w="12700">
            <a:solidFill>
              <a:srgbClr val="C8801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411480" y="20665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0299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4 – omarbetad och </a:t>
            </a:r>
            <a:r>
              <a:rPr lang="en-US" sz="1400" dirty="0" err="1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utökad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2569464"/>
            <a:ext cx="256032" cy="256032"/>
          </a:xfrm>
          <a:prstGeom prst="rect">
            <a:avLst/>
          </a:prstGeom>
          <a:solidFill>
            <a:srgbClr val="E8A020"/>
          </a:solidFill>
          <a:ln w="12700">
            <a:solidFill>
              <a:srgbClr val="C8801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411480" y="2569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25328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delar · 14 kapitel · 6 bilagor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11480" y="3072384"/>
            <a:ext cx="256032" cy="256032"/>
          </a:xfrm>
          <a:prstGeom prst="rect">
            <a:avLst/>
          </a:prstGeom>
          <a:solidFill>
            <a:srgbClr val="E8A020"/>
          </a:solidFill>
          <a:ln w="12700">
            <a:solidFill>
              <a:srgbClr val="C8801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411480" y="3072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03580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Gratis PDF, öppen licens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11480" y="3575304"/>
            <a:ext cx="256032" cy="256032"/>
          </a:xfrm>
          <a:prstGeom prst="rect">
            <a:avLst/>
          </a:prstGeom>
          <a:solidFill>
            <a:srgbClr val="E8A020"/>
          </a:solidFill>
          <a:ln w="12700">
            <a:solidFill>
              <a:srgbClr val="C88010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411480" y="35753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39" y="3538728"/>
            <a:ext cx="7635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Uppdateras löpande </a:t>
            </a:r>
            <a:r>
              <a:rPr lang="en-US" sz="1400" dirty="0" err="1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på</a:t>
            </a:r>
            <a:r>
              <a:rPr lang="en-US" sz="1400" dirty="0">
                <a:solidFill>
                  <a:srgbClr val="DD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GitHub</a:t>
            </a:r>
          </a:p>
        </p:txBody>
      </p:sp>
      <p:sp>
        <p:nvSpPr>
          <p:cNvPr id="22" name="Shape 20"/>
          <p:cNvSpPr/>
          <p:nvPr/>
        </p:nvSpPr>
        <p:spPr>
          <a:xfrm>
            <a:off x="411480" y="4160520"/>
            <a:ext cx="3657600" cy="548640"/>
          </a:xfrm>
          <a:prstGeom prst="rect">
            <a:avLst/>
          </a:prstGeom>
          <a:solidFill>
            <a:srgbClr val="243B55"/>
          </a:solidFill>
          <a:ln w="12700">
            <a:solidFill>
              <a:srgbClr val="1E6F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411480" y="41605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de Arne Nilsson  SM6ECA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821</Words>
  <Application>Microsoft Macintosh PowerPoint</Application>
  <PresentationFormat>Bildspel på skärmen (16:9)</PresentationFormat>
  <Paragraphs>185</Paragraphs>
  <Slides>10</Slides>
  <Notes>10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2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NanoVNA för Amatörradio – Praktisk handbok</dc:title>
  <dc:subject>PptxGenJS Presentation</dc:subject>
  <dc:creator>PptxGenJS</dc:creator>
  <cp:lastModifiedBy>A Nilsson</cp:lastModifiedBy>
  <cp:revision>2</cp:revision>
  <dcterms:created xsi:type="dcterms:W3CDTF">2026-05-18T08:18:43Z</dcterms:created>
  <dcterms:modified xsi:type="dcterms:W3CDTF">2026-05-18T08:52:52Z</dcterms:modified>
</cp:coreProperties>
</file>